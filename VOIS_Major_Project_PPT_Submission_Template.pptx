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33" d="100"/>
          <a:sy n="33" d="100"/>
        </p:scale>
        <p:origin x="2510" y="1229"/>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yash-mahalle/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45057" y="3501670"/>
            <a:ext cx="7837295" cy="861497"/>
          </a:xfrm>
        </p:spPr>
        <p:txBody>
          <a:bodyPr vert="horz" lIns="91440" tIns="45720" rIns="91440" bIns="45720" rtlCol="0" anchor="t">
            <a:normAutofit fontScale="92500"/>
          </a:bodyPr>
          <a:lstStyle/>
          <a:p>
            <a:r>
              <a:rPr lang="en-US" dirty="0" smtClean="0">
                <a:solidFill>
                  <a:schemeClr val="tx1"/>
                </a:solidFill>
              </a:rPr>
              <a:t>Student </a:t>
            </a:r>
            <a:r>
              <a:rPr lang="en-US" dirty="0">
                <a:solidFill>
                  <a:schemeClr val="tx1"/>
                </a:solidFill>
              </a:rPr>
              <a:t>Name </a:t>
            </a:r>
            <a:r>
              <a:rPr lang="en-US" dirty="0" smtClean="0">
                <a:solidFill>
                  <a:schemeClr val="tx1"/>
                </a:solidFill>
              </a:rPr>
              <a:t>– </a:t>
            </a:r>
            <a:r>
              <a:rPr lang="en-US" dirty="0" err="1" smtClean="0">
                <a:solidFill>
                  <a:schemeClr val="tx1"/>
                </a:solidFill>
              </a:rPr>
              <a:t>Yash</a:t>
            </a:r>
            <a:r>
              <a:rPr lang="en-US" dirty="0" smtClean="0">
                <a:solidFill>
                  <a:schemeClr val="tx1"/>
                </a:solidFill>
              </a:rPr>
              <a:t> Mohan </a:t>
            </a:r>
            <a:r>
              <a:rPr lang="en-US" dirty="0" err="1" smtClean="0">
                <a:solidFill>
                  <a:schemeClr val="tx1"/>
                </a:solidFill>
              </a:rPr>
              <a:t>Mahalle</a:t>
            </a:r>
            <a:endParaRPr lang="en-IN" dirty="0">
              <a:solidFill>
                <a:schemeClr val="tx1"/>
              </a:solidFill>
            </a:endParaRPr>
          </a:p>
          <a:p>
            <a:r>
              <a:rPr lang="en-US" dirty="0">
                <a:solidFill>
                  <a:schemeClr val="tx1"/>
                </a:solidFill>
              </a:rPr>
              <a:t>College </a:t>
            </a:r>
            <a:r>
              <a:rPr lang="en-US" dirty="0" smtClean="0">
                <a:solidFill>
                  <a:schemeClr val="tx1"/>
                </a:solidFill>
              </a:rPr>
              <a:t>Name - Shri </a:t>
            </a:r>
            <a:r>
              <a:rPr lang="en-US" dirty="0" err="1" smtClean="0">
                <a:solidFill>
                  <a:schemeClr val="tx1"/>
                </a:solidFill>
              </a:rPr>
              <a:t>Shankarprasad</a:t>
            </a:r>
            <a:r>
              <a:rPr lang="en-US" dirty="0" smtClean="0">
                <a:solidFill>
                  <a:schemeClr val="tx1"/>
                </a:solidFill>
              </a:rPr>
              <a:t> </a:t>
            </a:r>
            <a:r>
              <a:rPr lang="en-US" dirty="0" err="1">
                <a:solidFill>
                  <a:schemeClr val="tx1"/>
                </a:solidFill>
              </a:rPr>
              <a:t>A</a:t>
            </a:r>
            <a:r>
              <a:rPr lang="en-US" dirty="0" err="1" smtClean="0">
                <a:solidFill>
                  <a:schemeClr val="tx1"/>
                </a:solidFill>
              </a:rPr>
              <a:t>gnihotri</a:t>
            </a:r>
            <a:r>
              <a:rPr lang="en-US" dirty="0" smtClean="0">
                <a:solidFill>
                  <a:schemeClr val="tx1"/>
                </a:solidFill>
              </a:rPr>
              <a:t> College </a:t>
            </a:r>
            <a:r>
              <a:rPr lang="en-US" dirty="0">
                <a:solidFill>
                  <a:schemeClr val="tx1"/>
                </a:solidFill>
              </a:rPr>
              <a:t>O</a:t>
            </a:r>
            <a:r>
              <a:rPr lang="en-US" dirty="0" smtClean="0">
                <a:solidFill>
                  <a:schemeClr val="tx1"/>
                </a:solidFill>
              </a:rPr>
              <a:t>f Engineering </a:t>
            </a:r>
            <a:endParaRPr lang="en-IN"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45057" y="2758222"/>
            <a:ext cx="9269356" cy="743448"/>
          </a:xfrm>
        </p:spPr>
        <p:txBody>
          <a:bodyPr>
            <a:noAutofit/>
          </a:bodyPr>
          <a:lstStyle/>
          <a:p>
            <a:r>
              <a:rPr lang="en-GB" dirty="0"/>
              <a:t>Project Title </a:t>
            </a:r>
            <a:r>
              <a:rPr lang="en-GB" dirty="0" smtClean="0"/>
              <a:t>- </a:t>
            </a:r>
            <a:r>
              <a:rPr lang="en-GB" dirty="0" smtClean="0"/>
              <a:t>Seasonal Agriculture performance analysis</a:t>
            </a:r>
            <a:endParaRPr lang="en-IN"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445057" y="4682269"/>
            <a:ext cx="5909387" cy="369332"/>
          </a:xfrm>
          <a:prstGeom prst="rect">
            <a:avLst/>
          </a:prstGeom>
          <a:noFill/>
        </p:spPr>
        <p:txBody>
          <a:bodyPr wrap="square" rtlCol="0">
            <a:spAutoFit/>
          </a:bodyPr>
          <a:lstStyle/>
          <a:p>
            <a:r>
              <a:rPr lang="en-US" b="1" dirty="0"/>
              <a:t>AICTE STU ID </a:t>
            </a:r>
            <a:r>
              <a:rPr lang="en-US" b="1" dirty="0" smtClean="0"/>
              <a:t>: STU6918a1627733b1763221858 </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849594" y="913320"/>
            <a:ext cx="6841465" cy="671895"/>
          </a:xfrm>
        </p:spPr>
        <p:txBody>
          <a:bodyPr>
            <a:normAutofit fontScale="90000"/>
          </a:bodyPr>
          <a:lstStyle/>
          <a:p>
            <a:r>
              <a:rPr lang="en-GB" dirty="0"/>
              <a:t>Project </a:t>
            </a:r>
            <a:r>
              <a:rPr lang="en-GB" dirty="0" smtClean="0"/>
              <a:t>Description</a:t>
            </a:r>
            <a:r>
              <a:rPr lang="en-GB" sz="2200" b="0" dirty="0"/>
              <a:t/>
            </a:r>
            <a:br>
              <a:rPr lang="en-GB" sz="2200" b="0" dirty="0"/>
            </a:br>
            <a:endParaRPr lang="en-IN"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p:cNvSpPr txBox="1"/>
          <p:nvPr/>
        </p:nvSpPr>
        <p:spPr>
          <a:xfrm>
            <a:off x="675957" y="1951892"/>
            <a:ext cx="6841466" cy="4093428"/>
          </a:xfrm>
          <a:prstGeom prst="rect">
            <a:avLst/>
          </a:prstGeom>
          <a:noFill/>
        </p:spPr>
        <p:txBody>
          <a:bodyPr wrap="square" rtlCol="0">
            <a:spAutoFit/>
          </a:bodyPr>
          <a:lstStyle/>
          <a:p>
            <a:pPr marL="285750" indent="-285750">
              <a:buFont typeface="Arial" panose="020B0604020202020204" pitchFamily="34" charset="0"/>
              <a:buChar char="•"/>
            </a:pPr>
            <a:r>
              <a:rPr lang="en-US" sz="2000" dirty="0"/>
              <a:t>Analysis of agricultural performance across different </a:t>
            </a:r>
            <a:r>
              <a:rPr lang="en-US" sz="2000" dirty="0" smtClean="0"/>
              <a:t>seasons</a:t>
            </a:r>
          </a:p>
          <a:p>
            <a:pPr marL="285750" indent="-285750">
              <a:buFont typeface="Arial" panose="020B0604020202020204" pitchFamily="34" charset="0"/>
              <a:buChar char="•"/>
            </a:pPr>
            <a:r>
              <a:rPr lang="en-US" sz="2000" dirty="0" smtClean="0"/>
              <a:t>Study </a:t>
            </a:r>
            <a:r>
              <a:rPr lang="en-US" sz="2000" dirty="0"/>
              <a:t>of crop production and </a:t>
            </a:r>
            <a:r>
              <a:rPr lang="en-US" sz="2000" dirty="0" smtClean="0"/>
              <a:t>productivity</a:t>
            </a:r>
          </a:p>
          <a:p>
            <a:pPr marL="285750" indent="-285750">
              <a:buFont typeface="Arial" panose="020B0604020202020204" pitchFamily="34" charset="0"/>
              <a:buChar char="•"/>
            </a:pPr>
            <a:r>
              <a:rPr lang="en-US" sz="2000" dirty="0" smtClean="0"/>
              <a:t>Comparison </a:t>
            </a:r>
            <a:r>
              <a:rPr lang="en-US" sz="2000" dirty="0"/>
              <a:t>of yield, revenue, cost and </a:t>
            </a:r>
            <a:r>
              <a:rPr lang="en-US" sz="2000" dirty="0" smtClean="0"/>
              <a:t>profit</a:t>
            </a:r>
          </a:p>
          <a:p>
            <a:pPr marL="285750" indent="-285750">
              <a:buFont typeface="Arial" panose="020B0604020202020204" pitchFamily="34" charset="0"/>
              <a:buChar char="•"/>
            </a:pPr>
            <a:r>
              <a:rPr lang="en-US" sz="2000" dirty="0" smtClean="0"/>
              <a:t>Analysis </a:t>
            </a:r>
            <a:r>
              <a:rPr lang="en-US" sz="2000" dirty="0"/>
              <a:t>of environmental </a:t>
            </a:r>
            <a:r>
              <a:rPr lang="en-US" sz="2000" dirty="0" smtClean="0"/>
              <a:t>conditions</a:t>
            </a:r>
          </a:p>
          <a:p>
            <a:pPr marL="285750" indent="-285750">
              <a:buFont typeface="Arial" panose="020B0604020202020204" pitchFamily="34" charset="0"/>
              <a:buChar char="•"/>
            </a:pPr>
            <a:r>
              <a:rPr lang="en-US" sz="2000" dirty="0" smtClean="0"/>
              <a:t>Study </a:t>
            </a:r>
            <a:r>
              <a:rPr lang="en-US" sz="2000" dirty="0"/>
              <a:t>of fertilizer, pesticide and irrigation </a:t>
            </a:r>
            <a:r>
              <a:rPr lang="en-US" sz="2000" dirty="0" smtClean="0"/>
              <a:t>usage</a:t>
            </a:r>
          </a:p>
          <a:p>
            <a:pPr marL="285750" indent="-285750">
              <a:buFont typeface="Arial" panose="020B0604020202020204" pitchFamily="34" charset="0"/>
              <a:buChar char="•"/>
            </a:pPr>
            <a:r>
              <a:rPr lang="en-US" sz="2000" dirty="0" smtClean="0"/>
              <a:t>Analysis </a:t>
            </a:r>
            <a:r>
              <a:rPr lang="en-US" sz="2000" dirty="0"/>
              <a:t>of water consumption and water </a:t>
            </a:r>
            <a:r>
              <a:rPr lang="en-US" sz="2000" dirty="0" smtClean="0"/>
              <a:t>efficiency</a:t>
            </a:r>
          </a:p>
          <a:p>
            <a:pPr marL="285750" indent="-285750">
              <a:buFont typeface="Arial" panose="020B0604020202020204" pitchFamily="34" charset="0"/>
              <a:buChar char="•"/>
            </a:pPr>
            <a:r>
              <a:rPr lang="en-US" sz="2000" dirty="0" smtClean="0"/>
              <a:t>Comparison </a:t>
            </a:r>
            <a:r>
              <a:rPr lang="en-US" sz="2000" dirty="0"/>
              <a:t>of agricultural performance across </a:t>
            </a:r>
            <a:r>
              <a:rPr lang="en-US" sz="2000" dirty="0" smtClean="0"/>
              <a:t>regions</a:t>
            </a:r>
          </a:p>
          <a:p>
            <a:pPr marL="285750" indent="-285750">
              <a:buFont typeface="Arial" panose="020B0604020202020204" pitchFamily="34" charset="0"/>
              <a:buChar char="•"/>
            </a:pPr>
            <a:r>
              <a:rPr lang="en-US" sz="2000" dirty="0" smtClean="0"/>
              <a:t>Identification </a:t>
            </a:r>
            <a:r>
              <a:rPr lang="en-US" sz="2000" dirty="0"/>
              <a:t>of seasonal patterns and </a:t>
            </a:r>
            <a:r>
              <a:rPr lang="en-US" sz="2000" dirty="0" smtClean="0"/>
              <a:t>trends</a:t>
            </a:r>
          </a:p>
          <a:p>
            <a:pPr marL="285750" indent="-285750">
              <a:buFont typeface="Arial" panose="020B0604020202020204" pitchFamily="34" charset="0"/>
              <a:buChar char="•"/>
            </a:pPr>
            <a:r>
              <a:rPr lang="en-US" sz="2000" dirty="0" smtClean="0"/>
              <a:t>Correlation </a:t>
            </a:r>
            <a:r>
              <a:rPr lang="en-US" sz="2000" dirty="0"/>
              <a:t>analysis between agricultural </a:t>
            </a:r>
            <a:r>
              <a:rPr lang="en-US" sz="2000" dirty="0" smtClean="0"/>
              <a:t>variables</a:t>
            </a:r>
          </a:p>
          <a:p>
            <a:pPr marL="285750" indent="-285750">
              <a:buFont typeface="Arial" panose="020B0604020202020204" pitchFamily="34" charset="0"/>
              <a:buChar char="•"/>
            </a:pPr>
            <a:r>
              <a:rPr lang="en-US" sz="2000" dirty="0" smtClean="0"/>
              <a:t>Statistical </a:t>
            </a:r>
            <a:r>
              <a:rPr lang="en-US" sz="2000" dirty="0"/>
              <a:t>analysis of seasonal </a:t>
            </a:r>
            <a:r>
              <a:rPr lang="en-US" sz="2000" dirty="0" smtClean="0"/>
              <a:t>differences</a:t>
            </a:r>
          </a:p>
          <a:p>
            <a:pPr marL="285750" indent="-285750">
              <a:buFont typeface="Arial" panose="020B0604020202020204" pitchFamily="34" charset="0"/>
              <a:buChar char="•"/>
            </a:pPr>
            <a:r>
              <a:rPr lang="en-US" sz="2000" dirty="0" smtClean="0"/>
              <a:t>Development </a:t>
            </a:r>
            <a:r>
              <a:rPr lang="en-US" sz="2000" dirty="0"/>
              <a:t>of data-driven agricultural recommendations</a:t>
            </a:r>
            <a:endParaRPr lang="en-IN" sz="20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800489" y="1581327"/>
            <a:ext cx="8923803" cy="3861111"/>
          </a:xfrm>
        </p:spPr>
        <p:txBody>
          <a:bodyPr>
            <a:noAutofit/>
          </a:bodyPr>
          <a:lstStyle/>
          <a:p>
            <a:pPr algn="just">
              <a:lnSpc>
                <a:spcPct val="150000"/>
              </a:lnSpc>
            </a:pPr>
            <a:r>
              <a:rPr lang="en-US" dirty="0" smtClean="0"/>
              <a:t>Farmers</a:t>
            </a:r>
          </a:p>
          <a:p>
            <a:pPr algn="just">
              <a:lnSpc>
                <a:spcPct val="150000"/>
              </a:lnSpc>
            </a:pPr>
            <a:r>
              <a:rPr lang="en-US" dirty="0" smtClean="0"/>
              <a:t>Agricultural planners</a:t>
            </a:r>
          </a:p>
          <a:p>
            <a:pPr algn="just">
              <a:lnSpc>
                <a:spcPct val="150000"/>
              </a:lnSpc>
            </a:pPr>
            <a:r>
              <a:rPr lang="en-US" dirty="0" smtClean="0"/>
              <a:t>Government </a:t>
            </a:r>
            <a:r>
              <a:rPr lang="en-US" dirty="0"/>
              <a:t>agricultural </a:t>
            </a:r>
            <a:r>
              <a:rPr lang="en-US" dirty="0" smtClean="0"/>
              <a:t>departments</a:t>
            </a:r>
          </a:p>
          <a:p>
            <a:pPr algn="just">
              <a:lnSpc>
                <a:spcPct val="150000"/>
              </a:lnSpc>
            </a:pPr>
            <a:r>
              <a:rPr lang="en-US" dirty="0" smtClean="0"/>
              <a:t>Agricultural researchers</a:t>
            </a:r>
          </a:p>
          <a:p>
            <a:pPr algn="just">
              <a:lnSpc>
                <a:spcPct val="150000"/>
              </a:lnSpc>
            </a:pPr>
            <a:r>
              <a:rPr lang="en-US" dirty="0" smtClean="0"/>
              <a:t>Agribusiness organizations</a:t>
            </a:r>
          </a:p>
          <a:p>
            <a:pPr algn="just">
              <a:lnSpc>
                <a:spcPct val="150000"/>
              </a:lnSpc>
            </a:pPr>
            <a:r>
              <a:rPr lang="en-US" dirty="0" smtClean="0"/>
              <a:t>Farm </a:t>
            </a:r>
            <a:r>
              <a:rPr lang="en-US" dirty="0"/>
              <a:t>management </a:t>
            </a:r>
            <a:r>
              <a:rPr lang="en-US" dirty="0" smtClean="0"/>
              <a:t>organizations</a:t>
            </a:r>
          </a:p>
          <a:p>
            <a:pPr algn="just">
              <a:lnSpc>
                <a:spcPct val="150000"/>
              </a:lnSpc>
            </a:pPr>
            <a:r>
              <a:rPr lang="en-US" dirty="0" smtClean="0"/>
              <a:t>Data analysts</a:t>
            </a:r>
          </a:p>
          <a:p>
            <a:pPr algn="just">
              <a:lnSpc>
                <a:spcPct val="150000"/>
              </a:lnSpc>
            </a:pPr>
            <a:r>
              <a:rPr lang="en-US" dirty="0" smtClean="0"/>
              <a:t>Students </a:t>
            </a:r>
            <a:r>
              <a:rPr lang="en-US" dirty="0"/>
              <a:t>and educational institutions</a:t>
            </a:r>
            <a:endParaRPr lang="en-IN"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800489" y="674394"/>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682318" y="1315059"/>
            <a:ext cx="9289713" cy="5243448"/>
          </a:xfrm>
        </p:spPr>
        <p:txBody>
          <a:bodyPr>
            <a:normAutofit fontScale="40000" lnSpcReduction="20000"/>
          </a:bodyPr>
          <a:lstStyle/>
          <a:p>
            <a:pPr marL="457200" lvl="1" indent="0">
              <a:lnSpc>
                <a:spcPct val="150000"/>
              </a:lnSpc>
              <a:buNone/>
            </a:pPr>
            <a:endParaRPr lang="en-IN" dirty="0"/>
          </a:p>
          <a:p>
            <a:pPr lvl="1">
              <a:lnSpc>
                <a:spcPct val="150000"/>
              </a:lnSpc>
            </a:pPr>
            <a:r>
              <a:rPr lang="en-IN" sz="4000" dirty="0"/>
              <a:t>Python</a:t>
            </a:r>
          </a:p>
          <a:p>
            <a:pPr lvl="1">
              <a:lnSpc>
                <a:spcPct val="150000"/>
              </a:lnSpc>
            </a:pPr>
            <a:r>
              <a:rPr lang="en-IN" sz="4000" dirty="0"/>
              <a:t>Google </a:t>
            </a:r>
            <a:r>
              <a:rPr lang="en-IN" sz="4000" dirty="0" err="1"/>
              <a:t>Colab</a:t>
            </a:r>
            <a:endParaRPr lang="en-IN" sz="4000" dirty="0"/>
          </a:p>
          <a:p>
            <a:pPr lvl="1">
              <a:lnSpc>
                <a:spcPct val="150000"/>
              </a:lnSpc>
            </a:pPr>
            <a:r>
              <a:rPr lang="en-IN" sz="4000" dirty="0" err="1"/>
              <a:t>Jupyter</a:t>
            </a:r>
            <a:r>
              <a:rPr lang="en-IN" sz="4000" dirty="0"/>
              <a:t> Notebook</a:t>
            </a:r>
          </a:p>
          <a:p>
            <a:pPr lvl="1">
              <a:lnSpc>
                <a:spcPct val="150000"/>
              </a:lnSpc>
            </a:pPr>
            <a:r>
              <a:rPr lang="en-IN" sz="4000" dirty="0"/>
              <a:t>Pandas</a:t>
            </a:r>
          </a:p>
          <a:p>
            <a:pPr lvl="1">
              <a:lnSpc>
                <a:spcPct val="150000"/>
              </a:lnSpc>
            </a:pPr>
            <a:r>
              <a:rPr lang="en-IN" sz="4000" dirty="0" err="1"/>
              <a:t>NumPy</a:t>
            </a:r>
            <a:endParaRPr lang="en-IN" sz="4000" dirty="0"/>
          </a:p>
          <a:p>
            <a:pPr lvl="1">
              <a:lnSpc>
                <a:spcPct val="150000"/>
              </a:lnSpc>
            </a:pPr>
            <a:r>
              <a:rPr lang="en-IN" sz="4000" dirty="0" err="1"/>
              <a:t>Matplotlib</a:t>
            </a:r>
            <a:endParaRPr lang="en-IN" sz="4000" dirty="0"/>
          </a:p>
          <a:p>
            <a:pPr lvl="1">
              <a:lnSpc>
                <a:spcPct val="150000"/>
              </a:lnSpc>
            </a:pPr>
            <a:r>
              <a:rPr lang="en-IN" sz="4000" dirty="0" err="1"/>
              <a:t>SciPy</a:t>
            </a:r>
            <a:endParaRPr lang="en-IN" sz="4000" dirty="0"/>
          </a:p>
          <a:p>
            <a:pPr lvl="1">
              <a:lnSpc>
                <a:spcPct val="150000"/>
              </a:lnSpc>
            </a:pPr>
            <a:r>
              <a:rPr lang="en-IN" sz="4000" dirty="0"/>
              <a:t>CSV Dataset</a:t>
            </a:r>
          </a:p>
          <a:p>
            <a:pPr lvl="1">
              <a:lnSpc>
                <a:spcPct val="150000"/>
              </a:lnSpc>
            </a:pPr>
            <a:r>
              <a:rPr lang="en-IN" sz="4000" dirty="0"/>
              <a:t>Exploratory Data Analysis (EDA)</a:t>
            </a:r>
          </a:p>
          <a:p>
            <a:pPr lvl="1">
              <a:lnSpc>
                <a:spcPct val="150000"/>
              </a:lnSpc>
            </a:pPr>
            <a:r>
              <a:rPr lang="en-IN" sz="4000" dirty="0"/>
              <a:t>Statistical Analysis</a:t>
            </a:r>
          </a:p>
          <a:p>
            <a:pPr lvl="1">
              <a:lnSpc>
                <a:spcPct val="150000"/>
              </a:lnSpc>
            </a:pPr>
            <a:r>
              <a:rPr lang="en-IN" sz="4000" dirty="0"/>
              <a:t>Data Visualization</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1778000" y="536075"/>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1000"/>
                                        <p:tgtEl>
                                          <p:spTgt spid="7">
                                            <p:txEl>
                                              <p:pRg st="3" end="3"/>
                                            </p:txEl>
                                          </p:spTgt>
                                        </p:tgtEl>
                                      </p:cBhvr>
                                    </p:animEffect>
                                    <p:anim calcmode="lin" valueType="num">
                                      <p:cBhvr>
                                        <p:cTn id="29"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Effect transition="in" filter="fade">
                                      <p:cBhvr>
                                        <p:cTn id="35" dur="1000"/>
                                        <p:tgtEl>
                                          <p:spTgt spid="7">
                                            <p:txEl>
                                              <p:pRg st="4" end="4"/>
                                            </p:txEl>
                                          </p:spTgt>
                                        </p:tgtEl>
                                      </p:cBhvr>
                                    </p:animEffect>
                                    <p:anim calcmode="lin" valueType="num">
                                      <p:cBhvr>
                                        <p:cTn id="36"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5" end="5"/>
                                            </p:txEl>
                                          </p:spTgt>
                                        </p:tgtEl>
                                        <p:attrNameLst>
                                          <p:attrName>style.visibility</p:attrName>
                                        </p:attrNameLst>
                                      </p:cBhvr>
                                      <p:to>
                                        <p:strVal val="visible"/>
                                      </p:to>
                                    </p:set>
                                    <p:animEffect transition="in" filter="fade">
                                      <p:cBhvr>
                                        <p:cTn id="42" dur="1000"/>
                                        <p:tgtEl>
                                          <p:spTgt spid="7">
                                            <p:txEl>
                                              <p:pRg st="5" end="5"/>
                                            </p:txEl>
                                          </p:spTgt>
                                        </p:tgtEl>
                                      </p:cBhvr>
                                    </p:animEffect>
                                    <p:anim calcmode="lin" valueType="num">
                                      <p:cBhvr>
                                        <p:cTn id="4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6" end="6"/>
                                            </p:txEl>
                                          </p:spTgt>
                                        </p:tgtEl>
                                        <p:attrNameLst>
                                          <p:attrName>style.visibility</p:attrName>
                                        </p:attrNameLst>
                                      </p:cBhvr>
                                      <p:to>
                                        <p:strVal val="visible"/>
                                      </p:to>
                                    </p:set>
                                    <p:animEffect transition="in" filter="fade">
                                      <p:cBhvr>
                                        <p:cTn id="49" dur="1000"/>
                                        <p:tgtEl>
                                          <p:spTgt spid="7">
                                            <p:txEl>
                                              <p:pRg st="6" end="6"/>
                                            </p:txEl>
                                          </p:spTgt>
                                        </p:tgtEl>
                                      </p:cBhvr>
                                    </p:animEffect>
                                    <p:anim calcmode="lin" valueType="num">
                                      <p:cBhvr>
                                        <p:cTn id="50"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7" end="7"/>
                                            </p:txEl>
                                          </p:spTgt>
                                        </p:tgtEl>
                                        <p:attrNameLst>
                                          <p:attrName>style.visibility</p:attrName>
                                        </p:attrNameLst>
                                      </p:cBhvr>
                                      <p:to>
                                        <p:strVal val="visible"/>
                                      </p:to>
                                    </p:set>
                                    <p:animEffect transition="in" filter="fade">
                                      <p:cBhvr>
                                        <p:cTn id="56" dur="1000"/>
                                        <p:tgtEl>
                                          <p:spTgt spid="7">
                                            <p:txEl>
                                              <p:pRg st="7" end="7"/>
                                            </p:txEl>
                                          </p:spTgt>
                                        </p:tgtEl>
                                      </p:cBhvr>
                                    </p:animEffect>
                                    <p:anim calcmode="lin" valueType="num">
                                      <p:cBhvr>
                                        <p:cTn id="57"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8" end="8"/>
                                            </p:txEl>
                                          </p:spTgt>
                                        </p:tgtEl>
                                        <p:attrNameLst>
                                          <p:attrName>style.visibility</p:attrName>
                                        </p:attrNameLst>
                                      </p:cBhvr>
                                      <p:to>
                                        <p:strVal val="visible"/>
                                      </p:to>
                                    </p:set>
                                    <p:animEffect transition="in" filter="fade">
                                      <p:cBhvr>
                                        <p:cTn id="63" dur="1000"/>
                                        <p:tgtEl>
                                          <p:spTgt spid="7">
                                            <p:txEl>
                                              <p:pRg st="8" end="8"/>
                                            </p:txEl>
                                          </p:spTgt>
                                        </p:tgtEl>
                                      </p:cBhvr>
                                    </p:animEffect>
                                    <p:anim calcmode="lin" valueType="num">
                                      <p:cBhvr>
                                        <p:cTn id="64"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9" end="9"/>
                                            </p:txEl>
                                          </p:spTgt>
                                        </p:tgtEl>
                                        <p:attrNameLst>
                                          <p:attrName>style.visibility</p:attrName>
                                        </p:attrNameLst>
                                      </p:cBhvr>
                                      <p:to>
                                        <p:strVal val="visible"/>
                                      </p:to>
                                    </p:set>
                                    <p:animEffect transition="in" filter="fade">
                                      <p:cBhvr>
                                        <p:cTn id="70" dur="1000"/>
                                        <p:tgtEl>
                                          <p:spTgt spid="7">
                                            <p:txEl>
                                              <p:pRg st="9" end="9"/>
                                            </p:txEl>
                                          </p:spTgt>
                                        </p:tgtEl>
                                      </p:cBhvr>
                                    </p:animEffect>
                                    <p:anim calcmode="lin" valueType="num">
                                      <p:cBhvr>
                                        <p:cTn id="71"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7">
                                            <p:txEl>
                                              <p:pRg st="10" end="10"/>
                                            </p:txEl>
                                          </p:spTgt>
                                        </p:tgtEl>
                                        <p:attrNameLst>
                                          <p:attrName>style.visibility</p:attrName>
                                        </p:attrNameLst>
                                      </p:cBhvr>
                                      <p:to>
                                        <p:strVal val="visible"/>
                                      </p:to>
                                    </p:set>
                                    <p:animEffect transition="in" filter="fade">
                                      <p:cBhvr>
                                        <p:cTn id="77" dur="1000"/>
                                        <p:tgtEl>
                                          <p:spTgt spid="7">
                                            <p:txEl>
                                              <p:pRg st="10" end="10"/>
                                            </p:txEl>
                                          </p:spTgt>
                                        </p:tgtEl>
                                      </p:cBhvr>
                                    </p:animEffect>
                                    <p:anim calcmode="lin" valueType="num">
                                      <p:cBhvr>
                                        <p:cTn id="78"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7">
                                            <p:txEl>
                                              <p:pRg st="11" end="11"/>
                                            </p:txEl>
                                          </p:spTgt>
                                        </p:tgtEl>
                                        <p:attrNameLst>
                                          <p:attrName>style.visibility</p:attrName>
                                        </p:attrNameLst>
                                      </p:cBhvr>
                                      <p:to>
                                        <p:strVal val="visible"/>
                                      </p:to>
                                    </p:set>
                                    <p:animEffect transition="in" filter="fade">
                                      <p:cBhvr>
                                        <p:cTn id="84" dur="1000"/>
                                        <p:tgtEl>
                                          <p:spTgt spid="7">
                                            <p:txEl>
                                              <p:pRg st="11" end="11"/>
                                            </p:txEl>
                                          </p:spTgt>
                                        </p:tgtEl>
                                      </p:cBhvr>
                                    </p:animEffect>
                                    <p:anim calcmode="lin" valueType="num">
                                      <p:cBhvr>
                                        <p:cTn id="85"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86" dur="1000" fill="hold"/>
                                        <p:tgtEl>
                                          <p:spTgt spid="7">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159574"/>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8773" y="1257204"/>
            <a:ext cx="3476333" cy="2476266"/>
          </a:xfrm>
          <a:prstGeom prst="rect">
            <a:avLst/>
          </a:prstGeom>
        </p:spPr>
      </p:pic>
      <p:sp>
        <p:nvSpPr>
          <p:cNvPr id="14" name="Rectangle 5"/>
          <p:cNvSpPr>
            <a:spLocks noChangeArrowheads="1"/>
          </p:cNvSpPr>
          <p:nvPr/>
        </p:nvSpPr>
        <p:spPr bwMode="auto">
          <a:xfrm>
            <a:off x="944880" y="-5892324"/>
            <a:ext cx="8300720" cy="12557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dirty="0" smtClean="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 graph shows the distribution of farms across </a:t>
            </a:r>
            <a:r>
              <a:rPr kumimoji="0" lang="en-US" altLang="en-US" sz="1800" b="1" i="0" u="none" strike="noStrike" cap="none" normalizeH="0" baseline="0" dirty="0" err="1" smtClean="0">
                <a:ln>
                  <a:noFill/>
                </a:ln>
                <a:solidFill>
                  <a:schemeClr val="tx1"/>
                </a:solidFill>
                <a:effectLst/>
                <a:latin typeface="Arial" panose="020B0604020202020204" pitchFamily="34" charset="0"/>
              </a:rPr>
              <a:t>Kharif</a:t>
            </a:r>
            <a:r>
              <a:rPr kumimoji="0" lang="en-US" altLang="en-US" sz="1800" b="1" i="0" u="none" strike="noStrike" cap="none" normalizeH="0" baseline="0" dirty="0" smtClean="0">
                <a:ln>
                  <a:noFill/>
                </a:ln>
                <a:solidFill>
                  <a:schemeClr val="tx1"/>
                </a:solidFill>
                <a:effectLst/>
                <a:latin typeface="Arial" panose="020B0604020202020204" pitchFamily="34" charset="0"/>
              </a:rPr>
              <a:t>, Rabi and Zaid</a:t>
            </a:r>
            <a:r>
              <a:rPr kumimoji="0" lang="en-US" altLang="en-US" sz="1800" b="0" i="0" u="none" strike="noStrike" cap="none" normalizeH="0" baseline="0" dirty="0" smtClean="0">
                <a:ln>
                  <a:noFill/>
                </a:ln>
                <a:solidFill>
                  <a:schemeClr val="tx1"/>
                </a:solidFill>
                <a:effectLst/>
                <a:latin typeface="Arial" panose="020B0604020202020204" pitchFamily="34" charset="0"/>
              </a:rPr>
              <a:t> seasons.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smtClean="0">
                <a:ln>
                  <a:noFill/>
                </a:ln>
                <a:solidFill>
                  <a:schemeClr val="tx1"/>
                </a:solidFill>
                <a:effectLst/>
                <a:latin typeface="Arial" panose="020B0604020202020204" pitchFamily="34" charset="0"/>
              </a:rPr>
              <a:t>Kharif</a:t>
            </a:r>
            <a:r>
              <a:rPr kumimoji="0" lang="en-US" altLang="en-US" sz="1800" b="0" i="0" u="none" strike="noStrike" cap="none" normalizeH="0" baseline="0" dirty="0" smtClean="0">
                <a:ln>
                  <a:noFill/>
                </a:ln>
                <a:solidFill>
                  <a:schemeClr val="tx1"/>
                </a:solidFill>
                <a:effectLst/>
                <a:latin typeface="Arial" panose="020B0604020202020204" pitchFamily="34" charset="0"/>
              </a:rPr>
              <a:t> has the highest number of farms.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Rabi</a:t>
            </a:r>
            <a:r>
              <a:rPr kumimoji="0" lang="en-US" altLang="en-US" sz="1800" b="0" i="0" u="none" strike="noStrike" cap="none" normalizeH="0" baseline="0" dirty="0" smtClean="0">
                <a:ln>
                  <a:noFill/>
                </a:ln>
                <a:solidFill>
                  <a:schemeClr val="tx1"/>
                </a:solidFill>
                <a:effectLst/>
                <a:latin typeface="Arial" panose="020B0604020202020204" pitchFamily="34" charset="0"/>
              </a:rPr>
              <a:t> has the second-highest number of farms.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Zaid</a:t>
            </a:r>
            <a:r>
              <a:rPr kumimoji="0" lang="en-US" altLang="en-US" sz="1800" b="0" i="0" u="none" strike="noStrike" cap="none" normalizeH="0" baseline="0" dirty="0" smtClean="0">
                <a:ln>
                  <a:noFill/>
                </a:ln>
                <a:solidFill>
                  <a:schemeClr val="tx1"/>
                </a:solidFill>
                <a:effectLst/>
                <a:latin typeface="Arial" panose="020B0604020202020204" pitchFamily="34" charset="0"/>
              </a:rPr>
              <a:t> has considerably fewer farms compared with </a:t>
            </a:r>
            <a:r>
              <a:rPr kumimoji="0" lang="en-US" altLang="en-US" sz="1800" b="0" i="0" u="none" strike="noStrike" cap="none" normalizeH="0" baseline="0" dirty="0" err="1" smtClean="0">
                <a:ln>
                  <a:noFill/>
                </a:ln>
                <a:solidFill>
                  <a:schemeClr val="tx1"/>
                </a:solidFill>
                <a:effectLst/>
                <a:latin typeface="Arial" panose="020B0604020202020204" pitchFamily="34" charset="0"/>
              </a:rPr>
              <a:t>Kharif</a:t>
            </a:r>
            <a:r>
              <a:rPr kumimoji="0" lang="en-US" altLang="en-US" sz="1800" b="0" i="0" u="none" strike="noStrike" cap="none" normalizeH="0" baseline="0" dirty="0" smtClean="0">
                <a:ln>
                  <a:noFill/>
                </a:ln>
                <a:solidFill>
                  <a:schemeClr val="tx1"/>
                </a:solidFill>
                <a:effectLst/>
                <a:latin typeface="Arial" panose="020B0604020202020204" pitchFamily="34" charset="0"/>
              </a:rPr>
              <a:t> and Rabi.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This indicates that the dataset has greater representation of agricultural activities during </a:t>
            </a:r>
            <a:r>
              <a:rPr kumimoji="0" lang="en-US" altLang="en-US" sz="1800" b="0" i="0" u="none" strike="noStrike" cap="none" normalizeH="0" baseline="0" dirty="0" err="1" smtClean="0">
                <a:ln>
                  <a:noFill/>
                </a:ln>
                <a:solidFill>
                  <a:schemeClr val="tx1"/>
                </a:solidFill>
                <a:effectLst/>
                <a:latin typeface="Arial" panose="020B0604020202020204" pitchFamily="34" charset="0"/>
              </a:rPr>
              <a:t>Kharif</a:t>
            </a:r>
            <a:r>
              <a:rPr kumimoji="0" lang="en-US" altLang="en-US" sz="1800" b="0" i="0" u="none" strike="noStrike" cap="none" normalizeH="0" baseline="0" dirty="0" smtClean="0">
                <a:ln>
                  <a:noFill/>
                </a:ln>
                <a:solidFill>
                  <a:schemeClr val="tx1"/>
                </a:solidFill>
                <a:effectLst/>
                <a:latin typeface="Arial" panose="020B0604020202020204" pitchFamily="34" charset="0"/>
              </a:rPr>
              <a:t> and Rabi seasons.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 difference in the number of farms should be considered when comparing seasonal results. </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494997" y="3840647"/>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0928" y="1578011"/>
            <a:ext cx="4598312" cy="2288327"/>
          </a:xfrm>
          <a:prstGeom prst="rect">
            <a:avLst/>
          </a:prstGeom>
        </p:spPr>
      </p:pic>
      <p:sp>
        <p:nvSpPr>
          <p:cNvPr id="9" name="Rectangle 5"/>
          <p:cNvSpPr>
            <a:spLocks noGrp="1" noChangeArrowheads="1"/>
          </p:cNvSpPr>
          <p:nvPr>
            <p:ph type="body" sz="quarter" idx="12"/>
          </p:nvPr>
        </p:nvSpPr>
        <p:spPr bwMode="auto">
          <a:xfrm>
            <a:off x="1992313" y="248206"/>
            <a:ext cx="5380037" cy="10587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dirty="0" smtClean="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1"/>
          <p:cNvSpPr>
            <a:spLocks noChangeArrowheads="1"/>
          </p:cNvSpPr>
          <p:nvPr/>
        </p:nvSpPr>
        <p:spPr bwMode="auto">
          <a:xfrm>
            <a:off x="675957" y="-5781214"/>
            <a:ext cx="8254683" cy="12280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 graph presents the number of farms growing different crops.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Rice</a:t>
            </a:r>
            <a:r>
              <a:rPr kumimoji="0" lang="en-US" altLang="en-US" sz="1800" b="0" i="0" u="none" strike="noStrike" cap="none" normalizeH="0" baseline="0" dirty="0" smtClean="0">
                <a:ln>
                  <a:noFill/>
                </a:ln>
                <a:solidFill>
                  <a:schemeClr val="tx1"/>
                </a:solidFill>
                <a:effectLst/>
                <a:latin typeface="Arial" panose="020B0604020202020204" pitchFamily="34" charset="0"/>
              </a:rPr>
              <a:t> has the highest representation in the dataset.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Wheat</a:t>
            </a:r>
            <a:r>
              <a:rPr kumimoji="0" lang="en-US" altLang="en-US" sz="1800" b="0" i="0" u="none" strike="noStrike" cap="none" normalizeH="0" baseline="0" dirty="0" smtClean="0">
                <a:ln>
                  <a:noFill/>
                </a:ln>
                <a:solidFill>
                  <a:schemeClr val="tx1"/>
                </a:solidFill>
                <a:effectLst/>
                <a:latin typeface="Arial" panose="020B0604020202020204" pitchFamily="34" charset="0"/>
              </a:rPr>
              <a:t> is the second most represented crop.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Maize</a:t>
            </a:r>
            <a:r>
              <a:rPr kumimoji="0" lang="en-US" altLang="en-US" sz="1800" b="0" i="0" u="none" strike="noStrike" cap="none" normalizeH="0" baseline="0" dirty="0" smtClean="0">
                <a:ln>
                  <a:noFill/>
                </a:ln>
                <a:solidFill>
                  <a:schemeClr val="tx1"/>
                </a:solidFill>
                <a:effectLst/>
                <a:latin typeface="Arial" panose="020B0604020202020204" pitchFamily="34" charset="0"/>
              </a:rPr>
              <a:t> also has a significant number of farms.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Cotton and Pulses have moderate representation.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Groundnut, </a:t>
            </a:r>
            <a:r>
              <a:rPr kumimoji="0" lang="en-US" altLang="en-US" sz="1800" b="0" i="0" u="none" strike="noStrike" cap="none" normalizeH="0" baseline="0" dirty="0" err="1" smtClean="0">
                <a:ln>
                  <a:noFill/>
                </a:ln>
                <a:solidFill>
                  <a:schemeClr val="tx1"/>
                </a:solidFill>
                <a:effectLst/>
                <a:latin typeface="Arial" panose="020B0604020202020204" pitchFamily="34" charset="0"/>
              </a:rPr>
              <a:t>Chilli</a:t>
            </a:r>
            <a:r>
              <a:rPr kumimoji="0" lang="en-US" altLang="en-US" sz="1800" b="0" i="0" u="none" strike="noStrike" cap="none" normalizeH="0" baseline="0" dirty="0" smtClean="0">
                <a:ln>
                  <a:noFill/>
                </a:ln>
                <a:solidFill>
                  <a:schemeClr val="tx1"/>
                </a:solidFill>
                <a:effectLst/>
                <a:latin typeface="Arial" panose="020B0604020202020204" pitchFamily="34" charset="0"/>
              </a:rPr>
              <a:t> and Sugarcane have comparatively fewer farms.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 distribution helps identify which crops are more commonly represented in the dataset. </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9765" y="1457499"/>
            <a:ext cx="4681876" cy="2936091"/>
          </a:xfrm>
          <a:prstGeom prst="rect">
            <a:avLst/>
          </a:prstGeom>
        </p:spPr>
      </p:pic>
      <p:sp>
        <p:nvSpPr>
          <p:cNvPr id="3" name="Rectangle 1"/>
          <p:cNvSpPr>
            <a:spLocks noGrp="1" noChangeArrowheads="1"/>
          </p:cNvSpPr>
          <p:nvPr>
            <p:ph type="body" sz="quarter" idx="12"/>
          </p:nvPr>
        </p:nvSpPr>
        <p:spPr bwMode="auto">
          <a:xfrm>
            <a:off x="567055" y="5254219"/>
            <a:ext cx="4275138" cy="47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 graph compares the average agricultural yield across the three seasons.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smtClean="0">
                <a:ln>
                  <a:noFill/>
                </a:ln>
                <a:solidFill>
                  <a:schemeClr val="tx1"/>
                </a:solidFill>
                <a:effectLst/>
                <a:latin typeface="Arial" panose="020B0604020202020204" pitchFamily="34" charset="0"/>
              </a:rPr>
              <a:t>Kharif</a:t>
            </a:r>
            <a:r>
              <a:rPr kumimoji="0" lang="en-US" altLang="en-US" sz="1800" b="1" i="0" u="none" strike="noStrike" cap="none" normalizeH="0" baseline="0" dirty="0" smtClean="0">
                <a:ln>
                  <a:noFill/>
                </a:ln>
                <a:solidFill>
                  <a:schemeClr val="tx1"/>
                </a:solidFill>
                <a:effectLst/>
                <a:latin typeface="Arial" panose="020B0604020202020204" pitchFamily="34" charset="0"/>
              </a:rPr>
              <a:t> records the highest average yield</a:t>
            </a:r>
            <a:r>
              <a:rPr kumimoji="0" lang="en-US" altLang="en-US" sz="1800" b="0" i="0" u="none" strike="noStrike" cap="none" normalizeH="0" baseline="0" dirty="0" smtClean="0">
                <a:ln>
                  <a:noFill/>
                </a:ln>
                <a:solidFill>
                  <a:schemeClr val="tx1"/>
                </a:solidFill>
                <a:effectLst/>
                <a:latin typeface="Arial" panose="020B0604020202020204" pitchFamily="34" charset="0"/>
              </a:rPr>
              <a:t>, approximately </a:t>
            </a:r>
            <a:r>
              <a:rPr kumimoji="0" lang="en-US" altLang="en-US" sz="1800" b="1" i="0" u="none" strike="noStrike" cap="none" normalizeH="0" baseline="0" dirty="0" smtClean="0">
                <a:ln>
                  <a:noFill/>
                </a:ln>
                <a:solidFill>
                  <a:schemeClr val="tx1"/>
                </a:solidFill>
                <a:effectLst/>
                <a:latin typeface="Arial" panose="020B0604020202020204" pitchFamily="34" charset="0"/>
              </a:rPr>
              <a:t>5.6 </a:t>
            </a:r>
            <a:r>
              <a:rPr kumimoji="0" lang="en-US" altLang="en-US" sz="1800" b="1" i="0" u="none" strike="noStrike" cap="none" normalizeH="0" baseline="0" dirty="0" err="1" smtClean="0">
                <a:ln>
                  <a:noFill/>
                </a:ln>
                <a:solidFill>
                  <a:schemeClr val="tx1"/>
                </a:solidFill>
                <a:effectLst/>
                <a:latin typeface="Arial" panose="020B0604020202020204" pitchFamily="34" charset="0"/>
              </a:rPr>
              <a:t>tonnes</a:t>
            </a:r>
            <a:r>
              <a:rPr kumimoji="0" lang="en-US" altLang="en-US" sz="1800" b="1" i="0" u="none" strike="noStrike" cap="none" normalizeH="0" baseline="0" dirty="0" smtClean="0">
                <a:ln>
                  <a:noFill/>
                </a:ln>
                <a:solidFill>
                  <a:schemeClr val="tx1"/>
                </a:solidFill>
                <a:effectLst/>
                <a:latin typeface="Arial" panose="020B0604020202020204" pitchFamily="34" charset="0"/>
              </a:rPr>
              <a:t>/ha</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Rabi</a:t>
            </a:r>
            <a:r>
              <a:rPr kumimoji="0" lang="en-US" altLang="en-US" sz="1800" b="0" i="0" u="none" strike="noStrike" cap="none" normalizeH="0" baseline="0" dirty="0" smtClean="0">
                <a:ln>
                  <a:noFill/>
                </a:ln>
                <a:solidFill>
                  <a:schemeClr val="tx1"/>
                </a:solidFill>
                <a:effectLst/>
                <a:latin typeface="Arial" panose="020B0604020202020204" pitchFamily="34" charset="0"/>
              </a:rPr>
              <a:t> has an average yield of approximately </a:t>
            </a:r>
            <a:r>
              <a:rPr kumimoji="0" lang="en-US" altLang="en-US" sz="1800" b="1" i="0" u="none" strike="noStrike" cap="none" normalizeH="0" baseline="0" dirty="0" smtClean="0">
                <a:ln>
                  <a:noFill/>
                </a:ln>
                <a:solidFill>
                  <a:schemeClr val="tx1"/>
                </a:solidFill>
                <a:effectLst/>
                <a:latin typeface="Arial" panose="020B0604020202020204" pitchFamily="34" charset="0"/>
              </a:rPr>
              <a:t>5.1 </a:t>
            </a:r>
            <a:r>
              <a:rPr kumimoji="0" lang="en-US" altLang="en-US" sz="1800" b="1" i="0" u="none" strike="noStrike" cap="none" normalizeH="0" baseline="0" dirty="0" err="1" smtClean="0">
                <a:ln>
                  <a:noFill/>
                </a:ln>
                <a:solidFill>
                  <a:schemeClr val="tx1"/>
                </a:solidFill>
                <a:effectLst/>
                <a:latin typeface="Arial" panose="020B0604020202020204" pitchFamily="34" charset="0"/>
              </a:rPr>
              <a:t>tonnes</a:t>
            </a:r>
            <a:r>
              <a:rPr kumimoji="0" lang="en-US" altLang="en-US" sz="1800" b="1" i="0" u="none" strike="noStrike" cap="none" normalizeH="0" baseline="0" dirty="0" smtClean="0">
                <a:ln>
                  <a:noFill/>
                </a:ln>
                <a:solidFill>
                  <a:schemeClr val="tx1"/>
                </a:solidFill>
                <a:effectLst/>
                <a:latin typeface="Arial" panose="020B0604020202020204" pitchFamily="34" charset="0"/>
              </a:rPr>
              <a:t>/ha</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Zaid</a:t>
            </a:r>
            <a:r>
              <a:rPr kumimoji="0" lang="en-US" altLang="en-US" sz="1800" b="0" i="0" u="none" strike="noStrike" cap="none" normalizeH="0" baseline="0" dirty="0" smtClean="0">
                <a:ln>
                  <a:noFill/>
                </a:ln>
                <a:solidFill>
                  <a:schemeClr val="tx1"/>
                </a:solidFill>
                <a:effectLst/>
                <a:latin typeface="Arial" panose="020B0604020202020204" pitchFamily="34" charset="0"/>
              </a:rPr>
              <a:t> has the lowest average yield, approximately </a:t>
            </a:r>
            <a:r>
              <a:rPr kumimoji="0" lang="en-US" altLang="en-US" sz="1800" b="1" i="0" u="none" strike="noStrike" cap="none" normalizeH="0" baseline="0" dirty="0" smtClean="0">
                <a:ln>
                  <a:noFill/>
                </a:ln>
                <a:solidFill>
                  <a:schemeClr val="tx1"/>
                </a:solidFill>
                <a:effectLst/>
                <a:latin typeface="Arial" panose="020B0604020202020204" pitchFamily="34" charset="0"/>
              </a:rPr>
              <a:t>4.7 </a:t>
            </a:r>
            <a:r>
              <a:rPr kumimoji="0" lang="en-US" altLang="en-US" sz="1800" b="1" i="0" u="none" strike="noStrike" cap="none" normalizeH="0" baseline="0" dirty="0" err="1" smtClean="0">
                <a:ln>
                  <a:noFill/>
                </a:ln>
                <a:solidFill>
                  <a:schemeClr val="tx1"/>
                </a:solidFill>
                <a:effectLst/>
                <a:latin typeface="Arial" panose="020B0604020202020204" pitchFamily="34" charset="0"/>
              </a:rPr>
              <a:t>tonnes</a:t>
            </a:r>
            <a:r>
              <a:rPr kumimoji="0" lang="en-US" altLang="en-US" sz="1800" b="1" i="0" u="none" strike="noStrike" cap="none" normalizeH="0" baseline="0" dirty="0" smtClean="0">
                <a:ln>
                  <a:noFill/>
                </a:ln>
                <a:solidFill>
                  <a:schemeClr val="tx1"/>
                </a:solidFill>
                <a:effectLst/>
                <a:latin typeface="Arial" panose="020B0604020202020204" pitchFamily="34" charset="0"/>
              </a:rPr>
              <a:t>/ha</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Therefore, </a:t>
            </a:r>
            <a:r>
              <a:rPr kumimoji="0" lang="en-US" altLang="en-US" sz="1800" b="0" i="0" u="none" strike="noStrike" cap="none" normalizeH="0" baseline="0" dirty="0" err="1" smtClean="0">
                <a:ln>
                  <a:noFill/>
                </a:ln>
                <a:solidFill>
                  <a:schemeClr val="tx1"/>
                </a:solidFill>
                <a:effectLst/>
                <a:latin typeface="Arial" panose="020B0604020202020204" pitchFamily="34" charset="0"/>
              </a:rPr>
              <a:t>Kharif</a:t>
            </a:r>
            <a:r>
              <a:rPr kumimoji="0" lang="en-US" altLang="en-US" sz="1800" b="0" i="0" u="none" strike="noStrike" cap="none" normalizeH="0" baseline="0" dirty="0" smtClean="0">
                <a:ln>
                  <a:noFill/>
                </a:ln>
                <a:solidFill>
                  <a:schemeClr val="tx1"/>
                </a:solidFill>
                <a:effectLst/>
                <a:latin typeface="Arial" panose="020B0604020202020204" pitchFamily="34" charset="0"/>
              </a:rPr>
              <a:t> shows the strongest average productivity in the dataset.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 results indicate that seasonal conditions may influence agricultural yield. </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992" y="1275371"/>
            <a:ext cx="5210572" cy="3193409"/>
          </a:xfrm>
          <a:prstGeom prst="rect">
            <a:avLst/>
          </a:prstGeom>
        </p:spPr>
      </p:pic>
      <p:sp>
        <p:nvSpPr>
          <p:cNvPr id="3" name="Rectangle 1"/>
          <p:cNvSpPr>
            <a:spLocks noGrp="1" noChangeArrowheads="1"/>
          </p:cNvSpPr>
          <p:nvPr>
            <p:ph type="body" sz="quarter" idx="12"/>
          </p:nvPr>
        </p:nvSpPr>
        <p:spPr bwMode="auto">
          <a:xfrm>
            <a:off x="498992" y="4237118"/>
            <a:ext cx="8843128"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 graph compares average agricultural revenue across different seasons.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smtClean="0">
                <a:ln>
                  <a:noFill/>
                </a:ln>
                <a:solidFill>
                  <a:schemeClr val="tx1"/>
                </a:solidFill>
                <a:effectLst/>
                <a:latin typeface="Arial" panose="020B0604020202020204" pitchFamily="34" charset="0"/>
              </a:rPr>
              <a:t>Kharif</a:t>
            </a:r>
            <a:r>
              <a:rPr kumimoji="0" lang="en-US" altLang="en-US" sz="1800" b="1" i="0" u="none" strike="noStrike" cap="none" normalizeH="0" baseline="0" dirty="0" smtClean="0">
                <a:ln>
                  <a:noFill/>
                </a:ln>
                <a:solidFill>
                  <a:schemeClr val="tx1"/>
                </a:solidFill>
                <a:effectLst/>
                <a:latin typeface="Arial" panose="020B0604020202020204" pitchFamily="34" charset="0"/>
              </a:rPr>
              <a:t> generates the highest average revenue</a:t>
            </a:r>
            <a:r>
              <a:rPr kumimoji="0" lang="en-US" altLang="en-US" sz="1800" b="0" i="0" u="none" strike="noStrike" cap="none" normalizeH="0" baseline="0" dirty="0" smtClean="0">
                <a:ln>
                  <a:noFill/>
                </a:ln>
                <a:solidFill>
                  <a:schemeClr val="tx1"/>
                </a:solidFill>
                <a:effectLst/>
                <a:latin typeface="Arial" panose="020B0604020202020204" pitchFamily="34" charset="0"/>
              </a:rPr>
              <a:t>, around </a:t>
            </a:r>
            <a:r>
              <a:rPr kumimoji="0" lang="en-US" altLang="en-US" sz="1800" b="1" i="0" u="none" strike="noStrike" cap="none" normalizeH="0" baseline="0" dirty="0" smtClean="0">
                <a:ln>
                  <a:noFill/>
                </a:ln>
                <a:solidFill>
                  <a:schemeClr val="tx1"/>
                </a:solidFill>
                <a:effectLst/>
                <a:latin typeface="Arial" panose="020B0604020202020204" pitchFamily="34" charset="0"/>
              </a:rPr>
              <a:t>₹7.1 lakh</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Rabi generates approximately </a:t>
            </a:r>
            <a:r>
              <a:rPr kumimoji="0" lang="en-US" altLang="en-US" sz="1800" b="1" i="0" u="none" strike="noStrike" cap="none" normalizeH="0" baseline="0" dirty="0" smtClean="0">
                <a:ln>
                  <a:noFill/>
                </a:ln>
                <a:solidFill>
                  <a:schemeClr val="tx1"/>
                </a:solidFill>
                <a:effectLst/>
                <a:latin typeface="Arial" panose="020B0604020202020204" pitchFamily="34" charset="0"/>
              </a:rPr>
              <a:t>₹6.0 lakh</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Zaid generates approximately </a:t>
            </a:r>
            <a:r>
              <a:rPr kumimoji="0" lang="en-US" altLang="en-US" sz="1800" b="1" i="0" u="none" strike="noStrike" cap="none" normalizeH="0" baseline="0" dirty="0" smtClean="0">
                <a:ln>
                  <a:noFill/>
                </a:ln>
                <a:solidFill>
                  <a:schemeClr val="tx1"/>
                </a:solidFill>
                <a:effectLst/>
                <a:latin typeface="Arial" panose="020B0604020202020204" pitchFamily="34" charset="0"/>
              </a:rPr>
              <a:t>₹5.2 lakh</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Kharif</a:t>
            </a:r>
            <a:r>
              <a:rPr kumimoji="0" lang="en-US" altLang="en-US" sz="1800" b="0" i="0" u="none" strike="noStrike" cap="none" normalizeH="0" baseline="0" dirty="0" smtClean="0">
                <a:ln>
                  <a:noFill/>
                </a:ln>
                <a:solidFill>
                  <a:schemeClr val="tx1"/>
                </a:solidFill>
                <a:effectLst/>
                <a:latin typeface="Arial" panose="020B0604020202020204" pitchFamily="34" charset="0"/>
              </a:rPr>
              <a:t> therefore shows the strongest average economic performance in terms of revenue.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Revenue differences may be influenced by yield, crop type, production and market-related factors. </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957" y="1494865"/>
            <a:ext cx="4090931" cy="2451300"/>
          </a:xfrm>
          <a:prstGeom prst="rect">
            <a:avLst/>
          </a:prstGeom>
        </p:spPr>
      </p:pic>
      <p:sp>
        <p:nvSpPr>
          <p:cNvPr id="3" name="Rectangle 1"/>
          <p:cNvSpPr>
            <a:spLocks noGrp="1" noChangeArrowheads="1"/>
          </p:cNvSpPr>
          <p:nvPr>
            <p:ph type="body" sz="quarter" idx="12"/>
          </p:nvPr>
        </p:nvSpPr>
        <p:spPr bwMode="auto">
          <a:xfrm>
            <a:off x="533241" y="3871710"/>
            <a:ext cx="8626157"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The graph compares average profit across Kharif, Rabi and Zaid seasons.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smtClean="0">
                <a:ln>
                  <a:noFill/>
                </a:ln>
                <a:solidFill>
                  <a:schemeClr val="tx1"/>
                </a:solidFill>
                <a:effectLst/>
                <a:latin typeface="Arial" panose="020B0604020202020204" pitchFamily="34" charset="0"/>
              </a:rPr>
              <a:t>Kharif has the highest average profit</a:t>
            </a:r>
            <a:r>
              <a:rPr kumimoji="0" lang="en-US" altLang="en-US" sz="1800" b="0" i="0" u="none" strike="noStrike" cap="none" normalizeH="0" baseline="0" smtClean="0">
                <a:ln>
                  <a:noFill/>
                </a:ln>
                <a:solidFill>
                  <a:schemeClr val="tx1"/>
                </a:solidFill>
                <a:effectLst/>
                <a:latin typeface="Arial" panose="020B0604020202020204" pitchFamily="34" charset="0"/>
              </a:rPr>
              <a:t>, approximately </a:t>
            </a:r>
            <a:r>
              <a:rPr kumimoji="0" lang="en-US" altLang="en-US" sz="1800" b="1" i="0" u="none" strike="noStrike" cap="none" normalizeH="0" baseline="0" smtClean="0">
                <a:ln>
                  <a:noFill/>
                </a:ln>
                <a:solidFill>
                  <a:schemeClr val="tx1"/>
                </a:solidFill>
                <a:effectLst/>
                <a:latin typeface="Arial" panose="020B0604020202020204" pitchFamily="34" charset="0"/>
              </a:rPr>
              <a:t>₹1.8 lakh</a:t>
            </a:r>
            <a:r>
              <a:rPr kumimoji="0" lang="en-US" altLang="en-US" sz="1800" b="0" i="0" u="none" strike="noStrike" cap="none" normalizeH="0" baseline="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Rabi has a lower but positive average profit of approximately </a:t>
            </a:r>
            <a:r>
              <a:rPr kumimoji="0" lang="en-US" altLang="en-US" sz="1800" b="1" i="0" u="none" strike="noStrike" cap="none" normalizeH="0" baseline="0" smtClean="0">
                <a:ln>
                  <a:noFill/>
                </a:ln>
                <a:solidFill>
                  <a:schemeClr val="tx1"/>
                </a:solidFill>
                <a:effectLst/>
                <a:latin typeface="Arial" panose="020B0604020202020204" pitchFamily="34" charset="0"/>
              </a:rPr>
              <a:t>₹0.9 lakh</a:t>
            </a:r>
            <a:r>
              <a:rPr kumimoji="0" lang="en-US" altLang="en-US" sz="1800" b="0" i="0" u="none" strike="noStrike" cap="none" normalizeH="0" baseline="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smtClean="0">
                <a:ln>
                  <a:noFill/>
                </a:ln>
                <a:solidFill>
                  <a:schemeClr val="tx1"/>
                </a:solidFill>
                <a:effectLst/>
                <a:latin typeface="Arial" panose="020B0604020202020204" pitchFamily="34" charset="0"/>
              </a:rPr>
              <a:t>Zaid shows a negative average profit</a:t>
            </a:r>
            <a:r>
              <a:rPr kumimoji="0" lang="en-US" altLang="en-US" sz="1800" b="0" i="0" u="none" strike="noStrike" cap="none" normalizeH="0" baseline="0" smtClean="0">
                <a:ln>
                  <a:noFill/>
                </a:ln>
                <a:solidFill>
                  <a:schemeClr val="tx1"/>
                </a:solidFill>
                <a:effectLst/>
                <a:latin typeface="Arial" panose="020B0604020202020204" pitchFamily="34" charset="0"/>
              </a:rPr>
              <a:t>, approximately </a:t>
            </a:r>
            <a:r>
              <a:rPr kumimoji="0" lang="en-US" altLang="en-US" sz="1800" b="1" i="0" u="none" strike="noStrike" cap="none" normalizeH="0" baseline="0" smtClean="0">
                <a:ln>
                  <a:noFill/>
                </a:ln>
                <a:solidFill>
                  <a:schemeClr val="tx1"/>
                </a:solidFill>
                <a:effectLst/>
                <a:latin typeface="Arial" panose="020B0604020202020204" pitchFamily="34" charset="0"/>
              </a:rPr>
              <a:t>₹−0.25 lakh</a:t>
            </a:r>
            <a:r>
              <a:rPr kumimoji="0" lang="en-US" altLang="en-US" sz="1800" b="0" i="0" u="none" strike="noStrike" cap="none" normalizeH="0" baseline="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This indicates that profitability varies substantially between seasons.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The negative average profit for Zaid suggests that costs may exceed revenue for the average observation in this season.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Further investigation of crop choice, resource usage and production costs could help explain this difference. </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822203" y="610893"/>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675957" y="1608410"/>
            <a:ext cx="7486588" cy="4202237"/>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indent="-342900" algn="l">
              <a:buFont typeface="Arial" panose="020B0604020202020204" pitchFamily="34" charset="0"/>
              <a:buChar char="•"/>
            </a:pPr>
            <a:r>
              <a:rPr lang="en-GB" sz="2000" dirty="0"/>
              <a:t>Machine-learning based yield </a:t>
            </a:r>
            <a:r>
              <a:rPr lang="en-GB" sz="2000" dirty="0" smtClean="0"/>
              <a:t>prediction</a:t>
            </a:r>
          </a:p>
          <a:p>
            <a:pPr marL="342900" indent="-342900" algn="l">
              <a:buFont typeface="Arial" panose="020B0604020202020204" pitchFamily="34" charset="0"/>
              <a:buChar char="•"/>
            </a:pPr>
            <a:r>
              <a:rPr lang="en-GB" sz="2000" dirty="0" smtClean="0"/>
              <a:t>Seasonal </a:t>
            </a:r>
            <a:r>
              <a:rPr lang="en-GB" sz="2000" dirty="0"/>
              <a:t>crop-performance </a:t>
            </a:r>
            <a:r>
              <a:rPr lang="en-GB" sz="2000" dirty="0" smtClean="0"/>
              <a:t>forecasting</a:t>
            </a:r>
          </a:p>
          <a:p>
            <a:pPr marL="342900" indent="-342900" algn="l">
              <a:buFont typeface="Arial" panose="020B0604020202020204" pitchFamily="34" charset="0"/>
              <a:buChar char="•"/>
            </a:pPr>
            <a:r>
              <a:rPr lang="en-GB" sz="2000" dirty="0" smtClean="0"/>
              <a:t>Weather-data </a:t>
            </a:r>
            <a:r>
              <a:rPr lang="en-GB" sz="2000" dirty="0" err="1"/>
              <a:t>integrationMarket</a:t>
            </a:r>
            <a:r>
              <a:rPr lang="en-GB" sz="2000" dirty="0"/>
              <a:t>-price </a:t>
            </a:r>
            <a:r>
              <a:rPr lang="en-GB" sz="2000" dirty="0" smtClean="0"/>
              <a:t>integration</a:t>
            </a:r>
          </a:p>
          <a:p>
            <a:pPr marL="342900" indent="-342900" algn="l">
              <a:buFont typeface="Arial" panose="020B0604020202020204" pitchFamily="34" charset="0"/>
              <a:buChar char="•"/>
            </a:pPr>
            <a:r>
              <a:rPr lang="en-GB" sz="2000" dirty="0" smtClean="0"/>
              <a:t>Interactive </a:t>
            </a:r>
            <a:r>
              <a:rPr lang="en-GB" sz="2000" dirty="0"/>
              <a:t>agricultural </a:t>
            </a:r>
            <a:r>
              <a:rPr lang="en-GB" sz="2000" dirty="0" smtClean="0"/>
              <a:t>dashboard</a:t>
            </a:r>
          </a:p>
          <a:p>
            <a:pPr marL="342900" indent="-342900" algn="l">
              <a:buFont typeface="Arial" panose="020B0604020202020204" pitchFamily="34" charset="0"/>
              <a:buChar char="•"/>
            </a:pPr>
            <a:r>
              <a:rPr lang="en-GB" sz="2000" dirty="0" smtClean="0"/>
              <a:t>Crop </a:t>
            </a:r>
            <a:r>
              <a:rPr lang="en-GB" sz="2000" dirty="0"/>
              <a:t>recommendation </a:t>
            </a:r>
            <a:r>
              <a:rPr lang="en-GB" sz="2000" dirty="0" smtClean="0"/>
              <a:t>system</a:t>
            </a:r>
          </a:p>
          <a:p>
            <a:pPr marL="342900" indent="-342900" algn="l">
              <a:buFont typeface="Arial" panose="020B0604020202020204" pitchFamily="34" charset="0"/>
              <a:buChar char="•"/>
            </a:pPr>
            <a:r>
              <a:rPr lang="en-GB" sz="2000" dirty="0" smtClean="0"/>
              <a:t>Disease </a:t>
            </a:r>
            <a:r>
              <a:rPr lang="en-GB" sz="2000" dirty="0"/>
              <a:t>and pest </a:t>
            </a:r>
            <a:r>
              <a:rPr lang="en-GB" sz="2000" dirty="0" smtClean="0"/>
              <a:t>prediction</a:t>
            </a:r>
          </a:p>
          <a:p>
            <a:pPr marL="342900" indent="-342900" algn="l">
              <a:buFont typeface="Arial" panose="020B0604020202020204" pitchFamily="34" charset="0"/>
              <a:buChar char="•"/>
            </a:pPr>
            <a:r>
              <a:rPr lang="en-GB" sz="2000" dirty="0" smtClean="0"/>
              <a:t>Smart </a:t>
            </a:r>
            <a:r>
              <a:rPr lang="en-GB" sz="2000" dirty="0"/>
              <a:t>irrigation </a:t>
            </a:r>
            <a:r>
              <a:rPr lang="en-GB" sz="2000" dirty="0" smtClean="0"/>
              <a:t>recommendations</a:t>
            </a:r>
          </a:p>
          <a:p>
            <a:pPr marL="342900" indent="-342900" algn="l">
              <a:buFont typeface="Arial" panose="020B0604020202020204" pitchFamily="34" charset="0"/>
              <a:buChar char="•"/>
            </a:pPr>
            <a:r>
              <a:rPr lang="en-GB" sz="2000" dirty="0" smtClean="0"/>
              <a:t>Resource optimization</a:t>
            </a:r>
          </a:p>
          <a:p>
            <a:pPr marL="342900" indent="-342900" algn="l">
              <a:buFont typeface="Arial" panose="020B0604020202020204" pitchFamily="34" charset="0"/>
              <a:buChar char="•"/>
            </a:pPr>
            <a:r>
              <a:rPr lang="en-GB" sz="2000" dirty="0" smtClean="0"/>
              <a:t>Region-specific </a:t>
            </a:r>
            <a:r>
              <a:rPr lang="en-GB" sz="2000" dirty="0"/>
              <a:t>agricultural planning</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1296644" y="1525950"/>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p:cNvSpPr txBox="1"/>
          <p:nvPr/>
        </p:nvSpPr>
        <p:spPr>
          <a:xfrm>
            <a:off x="1296644" y="3001108"/>
            <a:ext cx="5673969" cy="646331"/>
          </a:xfrm>
          <a:prstGeom prst="rect">
            <a:avLst/>
          </a:prstGeom>
          <a:noFill/>
        </p:spPr>
        <p:txBody>
          <a:bodyPr wrap="square" rtlCol="0">
            <a:spAutoFit/>
          </a:bodyPr>
          <a:lstStyle/>
          <a:p>
            <a:r>
              <a:rPr lang="en-IN" dirty="0" smtClean="0">
                <a:hlinkClick r:id="rId3"/>
              </a:rPr>
              <a:t>https://github.com/yash-mahalle/Seasonal-Agriculture-performance-analysis.git</a:t>
            </a:r>
            <a:endParaRPr lang="en-IN"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086" y="1879663"/>
            <a:ext cx="6405215" cy="459225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201046" y="2852438"/>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flipH="1">
            <a:off x="96715" y="950628"/>
            <a:ext cx="212193" cy="130825"/>
          </a:xfrm>
        </p:spPr>
        <p:txBody>
          <a:bodyPr>
            <a:normAutofit fontScale="250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documentManagement/types"/>
    <ds:schemaRef ds:uri="http://purl.org/dc/elements/1.1/"/>
    <ds:schemaRef ds:uri="http://schemas.microsoft.com/office/2006/metadata/properties"/>
    <ds:schemaRef ds:uri="http://purl.org/dc/terms/"/>
    <ds:schemaRef ds:uri="http://schemas.openxmlformats.org/package/2006/metadata/core-properties"/>
    <ds:schemaRef ds:uri="16c05727-aa75-4e4a-9b5f-8a80a1165891"/>
    <ds:schemaRef ds:uri="http://purl.org/dc/dcmitype/"/>
    <ds:schemaRef ds:uri="http://schemas.microsoft.com/office/infopath/2007/PartnerControls"/>
    <ds:schemaRef ds:uri="71af3243-3dd4-4a8d-8c0d-dd76da1f02a5"/>
    <ds:schemaRef ds:uri="http://www.w3.org/XML/1998/namespace"/>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1452</TotalTime>
  <Words>660</Words>
  <Application>Microsoft Office PowerPoint</Application>
  <PresentationFormat>Widescreen</PresentationFormat>
  <Paragraphs>203</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mahal</cp:lastModifiedBy>
  <cp:revision>109</cp:revision>
  <dcterms:created xsi:type="dcterms:W3CDTF">2021-07-11T13:13:15Z</dcterms:created>
  <dcterms:modified xsi:type="dcterms:W3CDTF">2026-09-09T14:56:24Z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